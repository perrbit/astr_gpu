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开场只保留三个信息：问题是 CPU 计算周期长；方法是把计算和数据生命周期迁到 CUDA Fortran/MPI；结果是代表性 Channel 获得 37.84 倍单卡加速，最新 256 立方曲线 C10 双卡相对单卡获得 1.58 倍加速。后续页面分别回答为什么可信、能算什么和还有什么没做。
[Sources]
- git 47737cf9b6a25b00bc5f1139cdaec36d55e5024e
- git fa36a0d657d0c22ae6d456ec442013d2f723364f
- tests/gpu_validation/out/group_report_df1961_to_63fe7a8/channel_128_benchmark_20260903
- tests/gpu_validation/out/curvilinear_hbl_c10_256_benchmark_after_reduction_20260904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这页只解释收益。37.84 倍来自同一个 128 立方 Channel 工况，CPU NP=1 用时 526.677 秒，GPU NP=1 三次数据的中位数为 13.917 秒。它是端到端壁钟时间，不是单个 kernel 的理论峰值。
[Sources]
- tests/gpu_validation/out/group_report_df1961_to_63fe7a8/channel_128_benchmark_20260903/benchmark_times.tsv
- tests/gpu_validation/out/group_report_df1961_to_63fe7a8/channel_128_benchmark_20260903/gpu_repeats.tsv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常驻不是完全没有传输。MPI halo 必须交换，输出时仍要回到 CPU。关键变化是 q、原始变量、网格度量、梯度和工作数组在 RK 循环内持续驻留，不再为每个 kernel 搬整场数据。
[Sources]
- src_gpu/mainloop_gpu.cuf
- src_gpu/commarray_gpu.cuf
- documents/ASTR_FULL_GPU_ARCHITECTURE_PLAN.md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算例名称用于说明能力层次。TGV、2dvort 和 HIT 是基础周期流动；Channel 与 LDC 引入壁面；RTI 和 Sod 系列引入源项与间断；Mach 5 边界层与 CURVE-C15 组合曲线网格、黏性扩散、激波传感器和选择性 Roe。
[Sources]
- CONTEXT.md
- documents/GPU_VALIDATION_MATRIX.md
- tests/gpu_validation/README.md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图中每根柱子取该验证门中最不利的已记录差值。CURVE-C12 的统计差异约 5e-11，仍低于 1e-10。该图说明 CPU/GPU 数值等价，不代表物理模型已经被实验数据验证。
[Sources]
- documents/GPU_VALIDATION_MATRIX.md
- documents/ASTR_FULL_GPU_ARCHITECTURE_PLAN.md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纵轴是细网格变化量与粗网格变化量之比。小于 1 表明继续加密后结果改变量在缩小。C14 同时检查壁面摩擦、冷壁热流和速度/温度剖面。热壁热流接近零点，因此只作为信息项，不用不稳定的相对误差作验收。
[Sources]
- tests/gpu_validation/out/curvilinear_hbl_physical_dual_after_reduction_20260904
- tests/gpu_validation/analyze_curvilinear_hbl_physics.py
- tests/gpu_validation/summarize_curvilinear_hbl_refinement.py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左图和右图回答两个不同问题。左图比较 CPU 与 GPU 的整体加速，右图只比较一张和两张 GPU。右图最新三次中位数为 57.517 秒和 36.487 秒，对应 1.5764 倍加速和 78.82% 并行效率。
[Sources]
- tests/gpu_validation/out/group_report_df1961_to_63fe7a8/channel_128_benchmark_20260903
- tests/gpu_validation/out/curvilinear_hbl_c10_256_benchmark_after_reduction_20260904/benchmark_summary.md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C15 是本次相对旧稿的关键新增。原来的第一层归约产生 65536 乘 6 个 double，合计 3,145,728 字节。新实现使用第二个 GPU kernel 归约到 6 个标量。最新 trace 在 221 个 kernel 的 RK 区间内只有两次 176 字节 H2D 和两次 48 字节 D2H。
[Sources]
- src_gpu/statistic_gpu.cuf
- tests/gpu_validation/out/curvilinear_hbl_c10_256_residency_after_reduction_20260904/residency_report.txt
- tests/gpu_validation/out/curvilinear_hbl_c10_256_residency_after_reduction_20260904/nsys_summary.txt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这页直接回答有什么用。当前程序可用于高频回归、两卡大网格计算和复杂流动能力开发。它还不是任意工程外形求解器，也没有完成生产级 SBLI 物理对标。
[Sources]
- documents/ASTR_FULL_GPU_ARCHITECTURE_PLAN.md
- documents/GPU_VALIDATION_MATRIX.md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下一阶段建议围绕两条主线：真实复杂工况的物理可信化，以及通信后端性能化。多组分、化学、湍流模型、IBM、动网格和 GPU HDF5 当前都不应混入主线，否则会同时扩大数值、物理和工程风险。
[Sources]
- documents/ASTR_FULL_GPU_ARCHITECTURE_PLAN.md
- CONTEXT.md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结束时只重复三句话：以前只有 CPU；现在 GPU 主线、多卡和曲线激波能力已经建立；下一步要把工程正确性推进到真实复杂工况的物理可信度。
[Sources]
- Summary of slides 1-10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附录不在主线中逐页讲解，只在提问涉及具体提交、格式、边界、MPI 或性能协议时使用。
[Sources]
- Local project evidence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行数只反映工作量，不等同于功能价值。最新 fa36a0d 单次提交包含 30 个文件、2082 行新增和 85 行删除，重点是 C10-C15。
[Sources]
- git log 47737cf..fa36a0d
- git diff --shortstat 47737cf..fa36a0d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CPU 代码仍然是主要 oracle，并负责尚未 GPU 化的文件边界。GPU facade 避免 src/ 直接依赖大量 CUDA 模块。能力门控确保未验证的数值/边界组合明确拒绝，而不是静默进入错误路径。
[Sources]
- src/astr.F90
- src/mainloop.F90
- src_gpu/gpu_runtime.cuf
- src_gpu/case_capability_gpu.cuf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显式格式更适合当前 GPU 路径，因为不需要沿整条网格线求解线性系统。选择性 Roe 只在 shock mask 触发处进入特征空间，平滑区保留物理空间重构。
[Sources]
- documents/ASTR_CPU_NUMERICAL_SCHEMES.md
- documents/ASTR_FULL_GPU_ARCHITECTURE_PLAN.md
- src_gpu/solver_gpu.cuf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边界方向限制来自 CPU 现有实现和已完成验证。例如 42 当前只支持 x/y，411 和 421 当前只支持 y。曲线几何优先使用局部法向投影，不能把 Cartesian 分量钳制直接推广到曲线面。
[Sources]
- documents/GPU_VALIDATION_MATRIX.md
- src_gpu/case_capability_gpu.cuf
- src_gpu/boundary_gpu.cuf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NP 表示 MPI rank 数量，不自动等于 GPU 数量。NP=8 和 NP=27 在本机只用于检查三方向邻居、内部 rank 和边界 ownership。当前正式性能证据只有 NP=1 单卡和 NP=2 双卡。
[Sources]
- src_gpu/halo_exchange_gpu.cuf
- documents/ASTR_GPU_MULTI_RANK_PORTING_PLAN.md
- documents/GPU_VALIDATION_MATRIX.md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每一级回答不同问题。CPU/GPU 一致只说明移植一致；物理诊断说明离散结果是否呈合理趋势；Sanitizer 检查越界和非法访问；Nsight 与 nvitop 证明计算和数据驻留。
[Sources]
- tests/gpu_validation/README.md
- documents/GPU_VALIDATION_MATRIX.md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Channel 的 CPU 基线只测一次，因此 37.84 倍是工程证据，不是发表级统计。C10 每个 GPU 配置有预热和三次有效计时，且报告 min/median/max。两组都包含 CPU-owned 文件边界开销。
[Sources]
- tests/gpu_validation/out/group_report_df1961_to_63fe7a8/channel_128_benchmark_20260903
- tests/gpu_validation/out/curvilinear_hbl_c10_256_benchmark_after_reduction_20260904/timings.tsv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旧 CPU 程序在物理边界滤波、三维壁面积、NSCBC halo 时序、Ducros 索引和 symmetry 法向上暴露过确定性问题。所有明确修复都先经过人工确认。对物理语义不唯一的 NSCBC 分支不做擅自泛化。
[Sources]
- documents/ASTR_FULL_GPU_ARCHITECTURE_PLAN.md
- documents/GPU_VALIDATION_MATRIX.md
- tests/gpu_validation/out/curvilinear_hbl_c10_256_residency_after_reduction_20260904/nsys_summary.txt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dell/workspace/astr_gpu/documents/presentations/assets/astr_gpu_progress/curvilinear_mesh.jpe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60920" cy="6858000"/>
          </a:xfrm>
          <a:prstGeom prst="rect">
            <a:avLst/>
          </a:prstGeom>
          <a:solidFill>
            <a:srgbClr val="17242A"/>
          </a:solidFill>
          <a:ln w="12700">
            <a:solidFill>
              <a:srgbClr val="17242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94944" y="658368"/>
            <a:ext cx="5806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ASTR GPU 移植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94944" y="1316736"/>
            <a:ext cx="5852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7E3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把纯 CPU 高阶 CFD 求解器变成可验证的多 GPU 曲线网格求解框架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94944" y="2258568"/>
            <a:ext cx="5650992" cy="749808"/>
          </a:xfrm>
          <a:prstGeom prst="rect">
            <a:avLst/>
          </a:prstGeom>
          <a:solidFill>
            <a:srgbClr val="25343A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4944" y="2258568"/>
            <a:ext cx="73152" cy="749808"/>
          </a:xfrm>
          <a:prstGeom prst="rect">
            <a:avLst/>
          </a:prstGeom>
          <a:solidFill>
            <a:srgbClr val="C84747"/>
          </a:solidFill>
          <a:ln w="12700">
            <a:solidFill>
              <a:srgbClr val="C847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2350008"/>
            <a:ext cx="5340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要解决的问题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6112" y="2670048"/>
            <a:ext cx="5340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7E3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CPU 计算周期长，复杂三维算例的网格规模和参数扫描受限。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94944" y="3182112"/>
            <a:ext cx="5650992" cy="749808"/>
          </a:xfrm>
          <a:prstGeom prst="rect">
            <a:avLst/>
          </a:prstGeom>
          <a:solidFill>
            <a:srgbClr val="25343A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4944" y="3182112"/>
            <a:ext cx="73152" cy="749808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273552"/>
            <a:ext cx="5340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6F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采用的方法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96112" y="3593592"/>
            <a:ext cx="5340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7E3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CUDA Fortran + MPI；变量常驻 GPU；显式高阶格式；逐层正确性验证。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94944" y="4105656"/>
            <a:ext cx="5650992" cy="749808"/>
          </a:xfrm>
          <a:prstGeom prst="rect">
            <a:avLst/>
          </a:prstGeom>
          <a:solidFill>
            <a:srgbClr val="25343A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4944" y="4105656"/>
            <a:ext cx="73152" cy="749808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6112" y="4197096"/>
            <a:ext cx="5340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8C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得到的结果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96112" y="4517136"/>
            <a:ext cx="5340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7E3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Channel 单卡相对单 CPU 37.84×；256³ 曲线 C10 双卡相对单卡 1.58×。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94944" y="5285232"/>
            <a:ext cx="5650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FC2C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47737cf 纯 CPU  →  fa36a0d 最新 GPU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94944" y="587959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组会进展汇报  |  2026-09-04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WHY IT MATTERS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GPU 移植首先解决的是等待时间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2926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43584"/>
            <a:ext cx="3108960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43584"/>
            <a:ext cx="73152" cy="1078992"/>
          </a:xfrm>
          <a:prstGeom prst="rect">
            <a:avLst/>
          </a:prstGeom>
          <a:solidFill>
            <a:srgbClr val="C84747"/>
          </a:solidFill>
          <a:ln w="12700">
            <a:solidFill>
              <a:srgbClr val="C847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335024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526.7 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32688" y="1801368"/>
            <a:ext cx="2798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 CPU：128³ Channel 100 steps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32688" y="2057400"/>
            <a:ext cx="2798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 8.8 分钟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33088" y="1783080"/>
            <a:ext cx="1005840" cy="0"/>
          </a:xfrm>
          <a:prstGeom prst="line">
            <a:avLst/>
          </a:prstGeom>
          <a:noFill/>
          <a:ln w="19050">
            <a:solidFill>
              <a:srgbClr val="66747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13248" y="1243584"/>
            <a:ext cx="3108960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13248" y="1243584"/>
            <a:ext cx="73152" cy="1078992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14416" y="1335024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F6F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13.92 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614416" y="1801368"/>
            <a:ext cx="2798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 GPU：相同算例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614416" y="2057400"/>
            <a:ext cx="2798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三次 GPU 计时中位数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796528" y="1243584"/>
            <a:ext cx="2606040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96528" y="1243584"/>
            <a:ext cx="73152" cy="107899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97696" y="1335024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A8C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37.84×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997696" y="1801368"/>
            <a:ext cx="2295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整体加速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997696" y="2057400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相对 NP=1 CPU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41248" y="3072384"/>
            <a:ext cx="10561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同一算例从“等几分钟”缩短到“十几秒”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841248" y="4005072"/>
            <a:ext cx="3246120" cy="1243584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4005072"/>
            <a:ext cx="73152" cy="1243584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4096512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6F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更高分辨率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42416" y="4416552"/>
            <a:ext cx="29352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在相近周转时间内使用更多网格，减少尺度分辨不足。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462272" y="4005072"/>
            <a:ext cx="3246120" cy="1243584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62272" y="4005072"/>
            <a:ext cx="73152" cy="1243584"/>
          </a:xfrm>
          <a:prstGeom prst="rect">
            <a:avLst/>
          </a:prstGeom>
          <a:solidFill>
            <a:srgbClr val="C84747"/>
          </a:solidFill>
          <a:ln w="12700">
            <a:solidFill>
              <a:srgbClr val="C847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4096512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更多方案比较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663440" y="4416552"/>
            <a:ext cx="29352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同一时间预算内测试更多边界条件、参数和模型。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083296" y="4005072"/>
            <a:ext cx="3246120" cy="1243584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83296" y="4005072"/>
            <a:ext cx="73152" cy="1243584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84464" y="4096512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8C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更快开发闭环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284464" y="4416552"/>
            <a:ext cx="29352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代码修改后更快完成回归，及时发现数值与边界问题。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32688" y="57150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用途不是“让结果更好看”，而是把原本受计算时间限制的研究规模变得可执行。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8255">
            <a:solidFill>
              <a:srgbClr val="CCD3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519672"/>
            <a:ext cx="11018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Channel 128³, MAXSTEP=100, fixed forcing; CPU one run, GPU three-run median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METHOD IN PLAIN LANGUAGE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核心方法：计算期间让数据留在 GPU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4747"/>
          </a:solidFill>
          <a:ln w="12700">
            <a:solidFill>
              <a:srgbClr val="C847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2926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508760"/>
            <a:ext cx="1874520" cy="2331720"/>
          </a:xfrm>
          <a:prstGeom prst="rect">
            <a:avLst/>
          </a:prstGeom>
          <a:solidFill>
            <a:srgbClr val="F5E1E1"/>
          </a:solidFill>
          <a:ln w="13970">
            <a:solidFill>
              <a:srgbClr val="C847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737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CPU 准备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04088" y="2359152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读取输入、生成网格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初始化物理量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880" y="2670048"/>
            <a:ext cx="393192" cy="0"/>
          </a:xfrm>
          <a:prstGeom prst="line">
            <a:avLst/>
          </a:prstGeom>
          <a:noFill/>
          <a:ln w="19050">
            <a:solidFill>
              <a:srgbClr val="66747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89504" y="1508760"/>
            <a:ext cx="1874520" cy="2331720"/>
          </a:xfrm>
          <a:prstGeom prst="rect">
            <a:avLst/>
          </a:prstGeom>
          <a:solidFill>
            <a:srgbClr val="DDEAF3"/>
          </a:solidFill>
          <a:ln w="13970">
            <a:solidFill>
              <a:srgbClr val="2F6F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26664" y="1737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6F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上传一次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026664" y="2359152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主变量、网格度量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进入 GPU 显存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91456" y="2670048"/>
            <a:ext cx="393192" cy="0"/>
          </a:xfrm>
          <a:prstGeom prst="line">
            <a:avLst/>
          </a:prstGeom>
          <a:noFill/>
          <a:ln w="19050">
            <a:solidFill>
              <a:srgbClr val="66747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12080" y="1508760"/>
            <a:ext cx="1874520" cy="2331720"/>
          </a:xfrm>
          <a:prstGeom prst="rect">
            <a:avLst/>
          </a:prstGeom>
          <a:solidFill>
            <a:srgbClr val="DDEDE9"/>
          </a:solidFill>
          <a:ln w="13970">
            <a:solidFill>
              <a:srgbClr val="2A8C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1737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8C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GPU 循环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349240" y="2359152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边界、梯度、对流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扩散、滤波、RK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14032" y="2670048"/>
            <a:ext cx="393192" cy="0"/>
          </a:xfrm>
          <a:prstGeom prst="line">
            <a:avLst/>
          </a:prstGeom>
          <a:noFill/>
          <a:ln w="19050">
            <a:solidFill>
              <a:srgbClr val="66747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34656" y="1508760"/>
            <a:ext cx="1874520" cy="2331720"/>
          </a:xfrm>
          <a:prstGeom prst="rect">
            <a:avLst/>
          </a:prstGeom>
          <a:solidFill>
            <a:srgbClr val="F4EBD9"/>
          </a:solidFill>
          <a:ln w="13970">
            <a:solidFill>
              <a:srgbClr val="B783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71816" y="1737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783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只交换边界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671816" y="2359152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MPI 只传 halo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统计只回传标量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436608" y="2670048"/>
            <a:ext cx="393192" cy="0"/>
          </a:xfrm>
          <a:prstGeom prst="line">
            <a:avLst/>
          </a:prstGeom>
          <a:noFill/>
          <a:ln w="19050">
            <a:solidFill>
              <a:srgbClr val="66747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857232" y="1508760"/>
            <a:ext cx="1874520" cy="2331720"/>
          </a:xfrm>
          <a:prstGeom prst="rect">
            <a:avLst/>
          </a:prstGeom>
          <a:solidFill>
            <a:srgbClr val="F5E1E1"/>
          </a:solidFill>
          <a:ln w="13970">
            <a:solidFill>
              <a:srgbClr val="C847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94392" y="1737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CPU 输出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994392" y="2359152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Checkpoint/HDF5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仍由 CPU 管理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431596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过去：每一步都可能在 CPU 上计算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22960" y="4864608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A8C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现在：整个 Runge–Kutta 计算循环由 GPU 持有权威状态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22960" y="5449824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这决定了 GPU 能否真正发挥吞吐能力。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8255">
            <a:solidFill>
              <a:srgbClr val="CCD3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519672"/>
            <a:ext cx="11018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Current scope: GPU-resident compute loop; CPU-owned initialization and HDF5 output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WHAT CAN RUN NOW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能力已从基础涡流扩展到曲线网格高超声速路径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2926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68096" y="1188720"/>
            <a:ext cx="411480" cy="411480"/>
          </a:xfrm>
          <a:prstGeom prst="rect">
            <a:avLst/>
          </a:prstGeom>
          <a:solidFill>
            <a:srgbClr val="2F6FA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143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F6F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基础正确性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520440" y="11430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TGV · 2dvort · HIT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748272" y="114300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周期边界、中心差分、滤波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9264" y="1709928"/>
            <a:ext cx="0" cy="256032"/>
          </a:xfrm>
          <a:prstGeom prst="line">
            <a:avLst/>
          </a:prstGeom>
          <a:noFill/>
          <a:ln w="19050">
            <a:solidFill>
              <a:srgbClr val="CCD3D6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68096" y="2130552"/>
            <a:ext cx="411480" cy="411480"/>
          </a:xfrm>
          <a:prstGeom prst="rect">
            <a:avLst/>
          </a:prstGeom>
          <a:solidFill>
            <a:srgbClr val="C84747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0848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壁面流动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20440" y="208483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Channel · Lid-Driven Cavity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748272" y="208483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无滑移、绝热/等温、体积力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69264" y="2651760"/>
            <a:ext cx="0" cy="256032"/>
          </a:xfrm>
          <a:prstGeom prst="line">
            <a:avLst/>
          </a:prstGeom>
          <a:noFill/>
          <a:ln w="19050">
            <a:solidFill>
              <a:srgbClr val="CCD3D6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68096" y="3072384"/>
            <a:ext cx="411480" cy="411480"/>
          </a:xfrm>
          <a:prstGeom prst="rect">
            <a:avLst/>
          </a:prstGeom>
          <a:solidFill>
            <a:srgbClr val="B7832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0266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783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复杂界面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520440" y="302666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RTI · Sod · Shu–Osher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748272" y="3026664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重力源项、激波与接触间断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69264" y="3593592"/>
            <a:ext cx="0" cy="256032"/>
          </a:xfrm>
          <a:prstGeom prst="line">
            <a:avLst/>
          </a:prstGeom>
          <a:noFill/>
          <a:ln w="19050">
            <a:solidFill>
              <a:srgbClr val="CCD3D6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68096" y="4014216"/>
            <a:ext cx="411480" cy="411480"/>
          </a:xfrm>
          <a:prstGeom prst="rect">
            <a:avLst/>
          </a:prstGeom>
          <a:solidFill>
            <a:srgbClr val="2A8C8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39684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A8C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高超声速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520440" y="396849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Mach 5 boundary layer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748272" y="3968496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Sutherland 黏度、远场与入口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69264" y="4535424"/>
            <a:ext cx="0" cy="256032"/>
          </a:xfrm>
          <a:prstGeom prst="line">
            <a:avLst/>
          </a:prstGeom>
          <a:noFill/>
          <a:ln w="19050">
            <a:solidFill>
              <a:srgbClr val="CCD3D6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768096" y="4956048"/>
            <a:ext cx="411480" cy="411480"/>
          </a:xfrm>
          <a:prstGeom prst="rect">
            <a:avLst/>
          </a:prstGeom>
          <a:solidFill>
            <a:srgbClr val="C84747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49103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曲线激波路径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3520440" y="491032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CURVE-C0…C15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748272" y="491032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Ducros + selective Roe MP7 + diffusion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8680" y="5879592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重点：不是给每个算例单独写一套 GPU 程序，而是逐步形成可复用的求解能力。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8255">
            <a:solidFill>
              <a:srgbClr val="CCD3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519672"/>
            <a:ext cx="11018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Capability summary: CONTEXT.md and documents/GPU_VALIDATION_MATRIX.md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CORRECTNESS RESULT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代表性 CPU/GPU 差异均低于验收门槛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4747"/>
          </a:solidFill>
          <a:ln w="12700">
            <a:solidFill>
              <a:srgbClr val="C847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2926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000" dirty="0"/>
          </a:p>
        </p:txBody>
      </p:sp>
      <p:pic>
        <p:nvPicPr>
          <p:cNvPr id="6" name="Image 0" descr="/home/dell/workspace/astr_gpu/documents/presentations/assets/astr_gpu_progress/numerical_equivalence_error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52144"/>
            <a:ext cx="7635240" cy="4297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13648" y="1353312"/>
            <a:ext cx="2542032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13648" y="1353312"/>
            <a:ext cx="73152" cy="1078992"/>
          </a:xfrm>
          <a:prstGeom prst="rect">
            <a:avLst/>
          </a:prstGeom>
          <a:solidFill>
            <a:srgbClr val="C84747"/>
          </a:solidFill>
          <a:ln w="12700">
            <a:solidFill>
              <a:srgbClr val="C8474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444752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≤10⁻¹⁰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814816" y="1911096"/>
            <a:ext cx="2231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统一主要门槛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814816" y="2167128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同相位场/统计量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8613648" y="2761488"/>
            <a:ext cx="2542032" cy="1152144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13648" y="2761488"/>
            <a:ext cx="73152" cy="1152144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14816" y="285292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6F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比较内容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814816" y="3172968"/>
            <a:ext cx="223113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逐场最大差值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全局统计量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边界不变量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13648" y="4169664"/>
            <a:ext cx="2542032" cy="1152144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13648" y="4169664"/>
            <a:ext cx="73152" cy="1152144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14816" y="426110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8C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额外检查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814816" y="4581144"/>
            <a:ext cx="223113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Jacobian 为正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激波 mask 一致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Sanitizer 0 error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987552" y="5824728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先证明“GPU 算的是同一个问题”，再讨论速度。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8255">
            <a:solidFill>
              <a:srgbClr val="CCD3D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6519672"/>
            <a:ext cx="11018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Representative maxima from GPU_VALIDATION_MATRIX; markers are acceptance limits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PHYSICAL CONSISTENCY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曲线网格不只“能跑”，网格加密后结果变化在缩小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2926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000" dirty="0"/>
          </a:p>
        </p:txBody>
      </p:sp>
      <p:pic>
        <p:nvPicPr>
          <p:cNvPr id="6" name="Image 0" descr="/home/dell/workspace/astr_gpu/documents/presentations/assets/astr_gpu_progress/curvilinear_mesh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4041648" cy="4187952"/>
          </a:xfrm>
          <a:prstGeom prst="rect">
            <a:avLst/>
          </a:prstGeom>
        </p:spPr>
      </p:pic>
      <p:pic>
        <p:nvPicPr>
          <p:cNvPr id="7" name="Image 1" descr="/home/dell/workspace/astr_gpu/documents/presentations/assets/astr_gpu_progress/hbl_refinement_ratios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188720"/>
            <a:ext cx="6199632" cy="418795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417320" y="5404104"/>
            <a:ext cx="2560320" cy="329184"/>
          </a:xfrm>
          <a:prstGeom prst="roundRect">
            <a:avLst>
              <a:gd name="adj" fmla="val 13889"/>
            </a:avLst>
          </a:prstGeom>
          <a:solidFill>
            <a:srgbClr val="DDEAF3"/>
          </a:solidFill>
          <a:ln w="12700">
            <a:solidFill>
              <a:srgbClr val="DDEAF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490472" y="5431536"/>
            <a:ext cx="2414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静态非正交曲线网格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839712" y="5404104"/>
            <a:ext cx="2468880" cy="329184"/>
          </a:xfrm>
          <a:prstGeom prst="roundRect">
            <a:avLst>
              <a:gd name="adj" fmla="val 13889"/>
            </a:avLst>
          </a:prstGeom>
          <a:solidFill>
            <a:srgbClr val="DDEDE9"/>
          </a:solidFill>
          <a:ln w="12700">
            <a:solidFill>
              <a:srgbClr val="DDEDE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912864" y="5431536"/>
            <a:ext cx="23225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8C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全部比值 &lt; 1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68680" y="5824728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三套网格、两种时间步、冷热壁面均通过：误差趋势不是靠单一网格判断。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8255">
            <a:solidFill>
              <a:srgbClr val="CCD3D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6928" y="6519672"/>
            <a:ext cx="11018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CURVE-C14: 96×96×8, 144×144×8, 192×192×8; matched final time 2e-4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MEASURED PERFORMANCE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单卡显著缩短计算时间，双卡在大网格上继续受益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4747"/>
          </a:solidFill>
          <a:ln w="12700">
            <a:solidFill>
              <a:srgbClr val="C847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2926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000" dirty="0"/>
          </a:p>
        </p:txBody>
      </p:sp>
      <p:pic>
        <p:nvPicPr>
          <p:cNvPr id="6" name="Image 0" descr="/home/dell/workspace/astr_gpu/documents/presentations/assets/astr_gpu_progress/latest_performance_summary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61288"/>
            <a:ext cx="10826496" cy="42611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53309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37.84×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868680" y="575157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Channel：单 GPU 相对单 CPU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46720" y="53309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A8C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1.58×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7424928" y="575157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256³ C10：双 GPU 相对单 GPU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8255">
            <a:solidFill>
              <a:srgbClr val="CCD3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6519672"/>
            <a:ext cx="11018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Left: Channel 128³/100 steps. Right: latest C10 256³/6 RK advances, three repeats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RESIDENCY EVIDENCE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GPU 确实在持续计算，统计量不再搬回大数组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2926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49808" y="1316736"/>
            <a:ext cx="3794760" cy="1847088"/>
          </a:xfrm>
          <a:prstGeom prst="rect">
            <a:avLst/>
          </a:prstGeom>
          <a:solidFill>
            <a:srgbClr val="F5E1E1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316736"/>
            <a:ext cx="73152" cy="1847088"/>
          </a:xfrm>
          <a:prstGeom prst="rect">
            <a:avLst/>
          </a:prstGeom>
          <a:solidFill>
            <a:srgbClr val="C84747"/>
          </a:solidFill>
          <a:ln w="12700">
            <a:solidFill>
              <a:srgbClr val="C847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408176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发现的问题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50976" y="1728216"/>
            <a:ext cx="348386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256³ 首次 profile 发现统计归约每次回传约 3.0 MiB block partials。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这不是整场，但违反驻留门槛。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36592" y="2212848"/>
            <a:ext cx="822960" cy="0"/>
          </a:xfrm>
          <a:prstGeom prst="line">
            <a:avLst/>
          </a:prstGeom>
          <a:noFill/>
          <a:ln w="19050">
            <a:solidFill>
              <a:srgbClr val="66747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742432" y="1316736"/>
            <a:ext cx="3794760" cy="1847088"/>
          </a:xfrm>
          <a:prstGeom prst="rect">
            <a:avLst/>
          </a:prstGeom>
          <a:solidFill>
            <a:srgbClr val="DDEDE9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42432" y="1316736"/>
            <a:ext cx="73152" cy="1847088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408176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8C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修复后的路径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0" y="1728216"/>
            <a:ext cx="348386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第二级归约留在 GPU 上完成。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主机只收到 6 个 double，共 48 B。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802368" y="1316736"/>
            <a:ext cx="1627632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02368" y="1316736"/>
            <a:ext cx="73152" cy="107899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03536" y="1408176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A8C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48 B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003536" y="1874520"/>
            <a:ext cx="13167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最大 D2H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003536" y="2130552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RK 区间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49808" y="3794760"/>
            <a:ext cx="2880360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3794760"/>
            <a:ext cx="73152" cy="1078992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3886200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F6F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50976" y="4352544"/>
            <a:ext cx="2569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≥64 KiB 传输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50976" y="4608576"/>
            <a:ext cx="2569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首个 RHS 后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886200" y="3794760"/>
            <a:ext cx="2880360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86200" y="3794760"/>
            <a:ext cx="73152" cy="1078992"/>
          </a:xfrm>
          <a:prstGeom prst="rect">
            <a:avLst/>
          </a:prstGeom>
          <a:solidFill>
            <a:srgbClr val="C84747"/>
          </a:solidFill>
          <a:ln w="12700">
            <a:solidFill>
              <a:srgbClr val="C847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87368" y="3886200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100%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087368" y="4352544"/>
            <a:ext cx="2569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峰值 GPU 利用率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087368" y="4608576"/>
            <a:ext cx="2569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NP=1 与 NP=2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022592" y="3794760"/>
            <a:ext cx="2880360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22592" y="3794760"/>
            <a:ext cx="73152" cy="107899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3886200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A8C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 errors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223760" y="4352544"/>
            <a:ext cx="2569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Compute Sanitizer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223760" y="4608576"/>
            <a:ext cx="2569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归约核专项检查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41248" y="5760720"/>
            <a:ext cx="10497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性能结果有 profiler 与 nvitop 的运行证据支撑，不是仅凭程序“跑完”推断。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8255">
            <a:solidFill>
              <a:srgbClr val="CCD3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519672"/>
            <a:ext cx="11018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C15 Nsight Systems residency interval and nvitop runtime observation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WHAT IT ENABLES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当前版本已经能支撑三类研究工作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4747"/>
          </a:solidFill>
          <a:ln w="12700">
            <a:solidFill>
              <a:srgbClr val="C847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2926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49808" y="1280160"/>
            <a:ext cx="3401568" cy="3401568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280160"/>
            <a:ext cx="73152" cy="3401568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371600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6F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 快速基准与回归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50976" y="1691640"/>
            <a:ext cx="3090672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TGV、HIT、Channel 等算例可以快速重复运行。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适合检查新格式、新边界或新 kernel 是否改变原有结果。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280160"/>
            <a:ext cx="3401568" cy="3401568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280160"/>
            <a:ext cx="73152" cy="3401568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371600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8C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 多 GPU 大网格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0288" y="1691640"/>
            <a:ext cx="3090672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 halo 的 x/y/z 分解均已验证。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256³ C10 已证明两张 GPU 能同时工作并缩短时间。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28432" y="1280160"/>
            <a:ext cx="3401568" cy="3401568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28432" y="1280160"/>
            <a:ext cx="73152" cy="3401568"/>
          </a:xfrm>
          <a:prstGeom prst="rect">
            <a:avLst/>
          </a:prstGeom>
          <a:solidFill>
            <a:srgbClr val="C84747"/>
          </a:solidFill>
          <a:ln w="12700">
            <a:solidFill>
              <a:srgbClr val="C847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371600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 复杂流动研发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0" y="1691640"/>
            <a:ext cx="3090672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曲线网格、壁面、远场、激波传感器和选择性 Roe 可以组合。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为真实高超声速边界层与 SBLI 研发提供基础。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96112" y="534924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项目价值已经从“移植一个算例”提升为“建立可复用、可验证的 GPU 求解底座”。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8255">
            <a:solidFill>
              <a:srgbClr val="CCD3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519672"/>
            <a:ext cx="11018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Validated scope only; production SBLI and broader physics remain future work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NEXT STEP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下一阶段不是继续堆算例，而是扩大可信使用范围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2926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49808" y="1234440"/>
            <a:ext cx="5166360" cy="1188720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234440"/>
            <a:ext cx="73152" cy="1188720"/>
          </a:xfrm>
          <a:prstGeom prst="rect">
            <a:avLst/>
          </a:prstGeom>
          <a:solidFill>
            <a:srgbClr val="C84747"/>
          </a:solidFill>
          <a:ln w="12700">
            <a:solidFill>
              <a:srgbClr val="C847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325880"/>
            <a:ext cx="4855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 1：真实复杂工况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50976" y="1645920"/>
            <a:ext cx="4855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用可解释的 SBLI 或高超声速边界层工况做网格/时间收敛、激波位置和壁面热流验证。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6208" y="1234440"/>
            <a:ext cx="5166360" cy="1188720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36208" y="1234440"/>
            <a:ext cx="73152" cy="1188720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325880"/>
            <a:ext cx="4855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6F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 2：多卡通信效率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37376" y="1645920"/>
            <a:ext cx="4855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 host-staged halo 逐步升级为 pinned、nonblocking，并为 CUDA-aware MPI 保留后端。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9808" y="2743200"/>
            <a:ext cx="5166360" cy="1188720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2743200"/>
            <a:ext cx="73152" cy="1188720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2834640"/>
            <a:ext cx="4855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8C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 3：曲线边界泛化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50976" y="3154680"/>
            <a:ext cx="4855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继续坚持几何投影，把已验证的六面 symmetry 方法推广到更多物理边界。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36208" y="2743200"/>
            <a:ext cx="5166360" cy="1188720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2743200"/>
            <a:ext cx="73152" cy="1188720"/>
          </a:xfrm>
          <a:prstGeom prst="rect">
            <a:avLst/>
          </a:prstGeom>
          <a:solidFill>
            <a:srgbClr val="B7832F"/>
          </a:solidFill>
          <a:ln w="12700">
            <a:solidFill>
              <a:srgbClr val="B783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7376" y="2834640"/>
            <a:ext cx="4855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783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 4：可移植后端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37376" y="3154680"/>
            <a:ext cx="4855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保持求解器与通信后端分离，为未来 AMD/HIP/DCU 适配减少重复改造。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04672" y="46177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暂不进入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901952" y="4617720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compact · RANS/LES · 化学反应/燃烧 · IBM · 动网格/多块 · GPU HDF5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59536" y="5605272"/>
            <a:ext cx="10469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原则：每扩大一种物理能力，仍然先建立 CPU/GPU 同相位与物理诊断门槛。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8255">
            <a:solidFill>
              <a:srgbClr val="CCD3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6519672"/>
            <a:ext cx="11018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Near-term scope in ASTR_FULL_GPU_ARCHITECTURE_PLAN.md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2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65836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大白话总结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04672" y="159105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以前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011680" y="1536192"/>
            <a:ext cx="8823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ASTR 只能依靠 CPU，算得慢，GPU 也没有完整求解路径。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04672" y="278892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A8C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现在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011680" y="2724912"/>
            <a:ext cx="8823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主要计算能留在 GPU，多张卡能一起算，曲线网格和激波路径也有验证。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04672" y="413308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F6F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接下来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194560" y="4069080"/>
            <a:ext cx="8641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要证明它不仅算得快、算得一样，还能在真实复杂工况中算得可信。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786384" y="5276088"/>
            <a:ext cx="10497312" cy="0"/>
          </a:xfrm>
          <a:prstGeom prst="line">
            <a:avLst/>
          </a:prstGeom>
          <a:noFill/>
          <a:ln w="12700">
            <a:solidFill>
              <a:srgbClr val="5363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5559552"/>
            <a:ext cx="10442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7E3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结论：GPU 移植主线已经成立，下一阶段转向真实复杂物理与生产级扩展。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2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" y="1325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附录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86384" y="210312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D7E3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技术细节与可追溯证据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86384" y="303580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AFC2C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提交记录 · 架构 · 数值格式 · 边界与算例 · MPI · 验证 · 性能 · Profiling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86384" y="507492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仅在问答时展开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APPENDIX A · COMMITS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 次提交把纯 CPU 程序推进到 CURVE-C15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4747"/>
          </a:solidFill>
          <a:ln w="12700">
            <a:solidFill>
              <a:srgbClr val="C847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2926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49808" y="1581912"/>
            <a:ext cx="10698480" cy="0"/>
          </a:xfrm>
          <a:prstGeom prst="line">
            <a:avLst/>
          </a:prstGeom>
          <a:noFill/>
          <a:ln w="6985">
            <a:solidFill>
              <a:srgbClr val="CCD3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07899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47737cf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359152" y="1078992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纯 CPU 基线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532120" y="1078992"/>
            <a:ext cx="5650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 Fortran/MPI 求解器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749808" y="2194560"/>
            <a:ext cx="10698480" cy="0"/>
          </a:xfrm>
          <a:prstGeom prst="line">
            <a:avLst/>
          </a:prstGeom>
          <a:noFill/>
          <a:ln w="6985">
            <a:solidFill>
              <a:srgbClr val="CCD3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69164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6F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df1961b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359152" y="1691640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GPU 主线起步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532120" y="1691640"/>
            <a:ext cx="5650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TGV、设备字段与 x-slab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749808" y="2807208"/>
            <a:ext cx="10698480" cy="0"/>
          </a:xfrm>
          <a:prstGeom prst="line">
            <a:avLst/>
          </a:prstGeom>
          <a:noFill/>
          <a:ln w="6985">
            <a:solidFill>
              <a:srgbClr val="CCD3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304288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6F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5597e69 / 7a5fdce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359152" y="2304288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多向 halo 与工程规范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532120" y="2304288"/>
            <a:ext cx="5650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x/y/z、计划、ADR、验证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749808" y="3419856"/>
            <a:ext cx="10698480" cy="0"/>
          </a:xfrm>
          <a:prstGeom prst="line">
            <a:avLst/>
          </a:prstGeom>
          <a:noFill/>
          <a:ln w="6985">
            <a:solidFill>
              <a:srgbClr val="CCD3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2916936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6F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fd250ab / b5ed8c3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359152" y="2916936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 TGV 算例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532120" y="2916936"/>
            <a:ext cx="5650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2dvort、HIT、zero-extrap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749808" y="4032504"/>
            <a:ext cx="10698480" cy="0"/>
          </a:xfrm>
          <a:prstGeom prst="line">
            <a:avLst/>
          </a:prstGeom>
          <a:noFill/>
          <a:ln w="6985">
            <a:solidFill>
              <a:srgbClr val="CCD3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3529584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6F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451fe0e / a684edb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359152" y="352958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壁面与源项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532120" y="3529584"/>
            <a:ext cx="5650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Channel、LDC、RTI、wall family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749808" y="4645152"/>
            <a:ext cx="10698480" cy="0"/>
          </a:xfrm>
          <a:prstGeom prst="line">
            <a:avLst/>
          </a:prstGeom>
          <a:noFill/>
          <a:ln w="6985">
            <a:solidFill>
              <a:srgbClr val="CCD3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14223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6F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270be49 / 16ded59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359152" y="4142232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激波与高超声速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532120" y="4142232"/>
            <a:ext cx="5650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Sod、Shu–Osher、HBL、Roe、sponge</a:t>
            </a:r>
            <a:endParaRPr lang="en-US" sz="1180" dirty="0"/>
          </a:p>
        </p:txBody>
      </p:sp>
      <p:sp>
        <p:nvSpPr>
          <p:cNvPr id="30" name="Shape 28"/>
          <p:cNvSpPr/>
          <p:nvPr/>
        </p:nvSpPr>
        <p:spPr>
          <a:xfrm>
            <a:off x="749808" y="5257800"/>
            <a:ext cx="10698480" cy="0"/>
          </a:xfrm>
          <a:prstGeom prst="line">
            <a:avLst/>
          </a:prstGeom>
          <a:noFill/>
          <a:ln w="6985">
            <a:solidFill>
              <a:srgbClr val="CCD3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" y="475488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6F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aecb18f / 63fe7a8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359152" y="4754880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曲线网格 C0-C9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532120" y="4754880"/>
            <a:ext cx="5650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NSCBC、滤波、传感器、选择性 Roe</a:t>
            </a:r>
            <a:endParaRPr lang="en-US" sz="1180" dirty="0"/>
          </a:p>
        </p:txBody>
      </p:sp>
      <p:sp>
        <p:nvSpPr>
          <p:cNvPr id="34" name="Shape 32"/>
          <p:cNvSpPr/>
          <p:nvPr/>
        </p:nvSpPr>
        <p:spPr>
          <a:xfrm>
            <a:off x="749808" y="5870448"/>
            <a:ext cx="10698480" cy="0"/>
          </a:xfrm>
          <a:prstGeom prst="line">
            <a:avLst/>
          </a:prstGeom>
          <a:noFill/>
          <a:ln w="6985">
            <a:solidFill>
              <a:srgbClr val="CCD3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5367528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8C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fa36a0d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2359152" y="5367528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曲线网格 C10-C15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532120" y="5367528"/>
            <a:ext cx="5650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黏性 Roe、六面几何、物理/性能收口</a:t>
            </a:r>
            <a:endParaRPr lang="en-US" sz="1180" dirty="0"/>
          </a:p>
        </p:txBody>
      </p:sp>
      <p:sp>
        <p:nvSpPr>
          <p:cNvPr id="38" name="Text 36"/>
          <p:cNvSpPr/>
          <p:nvPr/>
        </p:nvSpPr>
        <p:spPr>
          <a:xfrm>
            <a:off x="841248" y="599846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累计：231 个文件变更，+33,941 / −2,730 行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8255">
            <a:solidFill>
              <a:srgbClr val="CCD3D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6519672"/>
            <a:ext cx="11018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log and git diff --shortstat 47737cf..fa36a0d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APPENDIX B ·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CPU 保留输入输出与基准，GPU 接管计算主循环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2926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07008"/>
            <a:ext cx="3273552" cy="3611880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73152" cy="3611880"/>
          </a:xfrm>
          <a:prstGeom prst="rect">
            <a:avLst/>
          </a:prstGeom>
          <a:solidFill>
            <a:srgbClr val="C84747"/>
          </a:solidFill>
          <a:ln w="12700">
            <a:solidFill>
              <a:srgbClr val="C847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298448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CPU 前端与基准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1618488"/>
            <a:ext cx="296265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src/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输入、网格、初始化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CPU reference solver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HDF5/checkpoint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MPI 拓扑建立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69664" y="2788920"/>
            <a:ext cx="640080" cy="0"/>
          </a:xfrm>
          <a:prstGeom prst="line">
            <a:avLst/>
          </a:prstGeom>
          <a:noFill/>
          <a:ln w="19050">
            <a:solidFill>
              <a:srgbClr val="66747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983480" y="1207008"/>
            <a:ext cx="3273552" cy="3611880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83480" y="1207008"/>
            <a:ext cx="73152" cy="3611880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84648" y="1298448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6F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GPU facade 与能力门控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84648" y="1618488"/>
            <a:ext cx="296265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gpu_runtime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case_capability_gpu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决定当前工况是否进入 GPU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拒绝未验证组合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421624" y="2788920"/>
            <a:ext cx="640080" cy="0"/>
          </a:xfrm>
          <a:prstGeom prst="line">
            <a:avLst/>
          </a:prstGeom>
          <a:noFill/>
          <a:ln w="19050">
            <a:solidFill>
              <a:srgbClr val="66747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235440" y="1207008"/>
            <a:ext cx="2240280" cy="3611880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440" y="1207008"/>
            <a:ext cx="73152" cy="3611880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36608" y="1298448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8C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CUDA 后端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436608" y="1618488"/>
            <a:ext cx="192938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src_gpu/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梯度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对流/扩散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滤波/RK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统计/源项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9536" y="5404104"/>
            <a:ext cx="10469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低限度修改 src/，GPU 实现集中在 src_gpu/；未来通信与 HIP/DCU 后端可独立演进。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8255">
            <a:solidFill>
              <a:srgbClr val="CCD3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6519672"/>
            <a:ext cx="11018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 boundaries: src/ and src_gpu/ at fa36a0d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APPENDIX C · NUMERICS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已移植的是显式高阶路径，不包含 compact 线性求解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4747"/>
          </a:solidFill>
          <a:ln w="12700">
            <a:solidFill>
              <a:srgbClr val="C847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2926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49808" y="1673352"/>
            <a:ext cx="10698480" cy="0"/>
          </a:xfrm>
          <a:prstGeom prst="line">
            <a:avLst/>
          </a:prstGeom>
          <a:noFill/>
          <a:ln w="6985">
            <a:solidFill>
              <a:srgbClr val="CCD3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17043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6F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对流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359152" y="1170432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六阶显式中心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532120" y="1170432"/>
            <a:ext cx="5650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平滑区基础格式；物理边界采用 CPU 对应闭合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749808" y="2377440"/>
            <a:ext cx="10698480" cy="0"/>
          </a:xfrm>
          <a:prstGeom prst="line">
            <a:avLst/>
          </a:prstGeom>
          <a:noFill/>
          <a:ln w="6985">
            <a:solidFill>
              <a:srgbClr val="CCD3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87452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激波重构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359152" y="1874520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WENO7 / MP7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532120" y="1874520"/>
            <a:ext cx="5650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可选物理空间或 Roe 特征空间重构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749808" y="3081528"/>
            <a:ext cx="10698480" cy="0"/>
          </a:xfrm>
          <a:prstGeom prst="line">
            <a:avLst/>
          </a:prstGeom>
          <a:noFill/>
          <a:ln w="6985">
            <a:solidFill>
              <a:srgbClr val="CCD3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578608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783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激波判断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359152" y="2578608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Ducros sensor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532120" y="2578608"/>
            <a:ext cx="5650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仅传感器标记区域进入 selective Roe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749808" y="3785616"/>
            <a:ext cx="10698480" cy="0"/>
          </a:xfrm>
          <a:prstGeom prst="line">
            <a:avLst/>
          </a:prstGeom>
          <a:noFill/>
          <a:ln w="6985">
            <a:solidFill>
              <a:srgbClr val="CCD3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282696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8C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黏性项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359152" y="3282696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六阶显式中心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532120" y="3282696"/>
            <a:ext cx="5650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曲线度量 + Sutherland 黏度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749808" y="4489704"/>
            <a:ext cx="10698480" cy="0"/>
          </a:xfrm>
          <a:prstGeom prst="line">
            <a:avLst/>
          </a:prstGeom>
          <a:noFill/>
          <a:ln w="6985">
            <a:solidFill>
              <a:srgbClr val="CCD3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3986784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6F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滤波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359152" y="398678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十阶显式中心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532120" y="3986784"/>
            <a:ext cx="5650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ping-pong；物理边界 0-6-6-6-8-10 闭合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749808" y="5193792"/>
            <a:ext cx="10698480" cy="0"/>
          </a:xfrm>
          <a:prstGeom prst="line">
            <a:avLst/>
          </a:prstGeom>
          <a:noFill/>
          <a:ln w="6985">
            <a:solidFill>
              <a:srgbClr val="CCD3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69087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时间推进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359152" y="4690872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三阶 Runge–Kutta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532120" y="4690872"/>
            <a:ext cx="5650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 GPU kernel 后按当前约束显式同步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859536" y="57607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不移植：紧致差分、三对角/五对角求解。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8255">
            <a:solidFill>
              <a:srgbClr val="CCD3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519672"/>
            <a:ext cx="11018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Numerical scope fixed by project decisions and current capability gates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APPENDIX D · CASES AND BC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算例与边界按“验证过的组合”开放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2926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" y="1207008"/>
            <a:ext cx="3346704" cy="3931920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207008"/>
            <a:ext cx="73152" cy="3931920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984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6F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已验证算例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1618488"/>
            <a:ext cx="303580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TGV / 2dvort / HIT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Channel / LDC / RTI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Sod / Shu–Osher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Mach 5 boundary layer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controlled curved SBLI path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16552" y="1207008"/>
            <a:ext cx="3346704" cy="3931920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6552" y="1207008"/>
            <a:ext cx="73152" cy="3931920"/>
          </a:xfrm>
          <a:prstGeom prst="rect">
            <a:avLst/>
          </a:prstGeom>
          <a:solidFill>
            <a:srgbClr val="C84747"/>
          </a:solidFill>
          <a:ln w="12700">
            <a:solidFill>
              <a:srgbClr val="C847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2984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已覆盖边界族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1618488"/>
            <a:ext cx="303580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periodic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 UDF lid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11/12 inflow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 outflow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31 fixed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41/42 no-slip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411/421 slip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 zero-extrap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51/52 farfield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60 symmetry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9872" y="1207008"/>
            <a:ext cx="3346704" cy="3931920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19872" y="1207008"/>
            <a:ext cx="73152" cy="3931920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2984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8C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使用规则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21040" y="1618488"/>
            <a:ext cx="303580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勾选一种 bctype 不代表任意方向都可用。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能力门控同时检查方向、格式、物性、MPI 拓扑和 sponge。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未验证组合直接拒绝。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77824" y="566928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142 条 pass 记录是验证证据，不等于 142 个独立物理算例。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8255">
            <a:solidFill>
              <a:srgbClr val="CCD3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519672"/>
            <a:ext cx="11018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Current matrix: 142 pass rows in documents/GPU_VALIDATION_MATRIX.md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APPENDIX E · MPI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MPI 正确性覆盖三方向，性能证据限定两张物理 GPU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4747"/>
          </a:solidFill>
          <a:ln w="12700">
            <a:solidFill>
              <a:srgbClr val="C847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2926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49808" y="1261872"/>
            <a:ext cx="3108960" cy="1828800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261872"/>
            <a:ext cx="73152" cy="1828800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353312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6F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方向覆盖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50976" y="1673352"/>
            <a:ext cx="27980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x-slab：2×1×1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y-slab：1×2×1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z-slab：1×1×2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96512" y="1261872"/>
            <a:ext cx="3108960" cy="1828800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96512" y="1261872"/>
            <a:ext cx="73152" cy="1828800"/>
          </a:xfrm>
          <a:prstGeom prst="rect">
            <a:avLst/>
          </a:prstGeom>
          <a:solidFill>
            <a:srgbClr val="C84747"/>
          </a:solidFill>
          <a:ln w="12700">
            <a:solidFill>
              <a:srgbClr val="C847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353312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组合覆盖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97680" y="1673352"/>
            <a:ext cx="27980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NP=4：二维平面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NP=8：2×2×2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NP=27：3×3×3 内部 rank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43216" y="1261872"/>
            <a:ext cx="3749040" cy="1828800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43216" y="1261872"/>
            <a:ext cx="73152" cy="1828800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44384" y="1353312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8C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当前硬件解释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44384" y="1673352"/>
            <a:ext cx="34381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机器只有两张 GPU。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NP&gt;2 是共享 GPU 的正确性压力测试，不是多卡扩展曲线。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1248" y="3867912"/>
            <a:ext cx="10533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 rank 固定绑定一个设备；只交换 hm 层 halo；物理边界由 MPI_PROC_NULL 判定。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1481328" y="4892040"/>
            <a:ext cx="9052560" cy="0"/>
          </a:xfrm>
          <a:prstGeom prst="line">
            <a:avLst/>
          </a:prstGeom>
          <a:noFill/>
          <a:ln w="19050">
            <a:solidFill>
              <a:srgbClr val="66747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87552" y="5212080"/>
            <a:ext cx="1234440" cy="329184"/>
          </a:xfrm>
          <a:prstGeom prst="roundRect">
            <a:avLst>
              <a:gd name="adj" fmla="val 13889"/>
            </a:avLst>
          </a:prstGeom>
          <a:solidFill>
            <a:srgbClr val="DDEAF3"/>
          </a:solidFill>
          <a:ln w="12700">
            <a:solidFill>
              <a:srgbClr val="DDEA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5239512"/>
            <a:ext cx="10881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pack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907792" y="5212080"/>
            <a:ext cx="1901952" cy="329184"/>
          </a:xfrm>
          <a:prstGeom prst="roundRect">
            <a:avLst>
              <a:gd name="adj" fmla="val 13889"/>
            </a:avLst>
          </a:prstGeom>
          <a:solidFill>
            <a:srgbClr val="F5E1E1"/>
          </a:solidFill>
          <a:ln w="12700">
            <a:solidFill>
              <a:srgbClr val="F5E1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80944" y="5239512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host-staged MPI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504688" y="5212080"/>
            <a:ext cx="1234440" cy="329184"/>
          </a:xfrm>
          <a:prstGeom prst="roundRect">
            <a:avLst>
              <a:gd name="adj" fmla="val 13889"/>
            </a:avLst>
          </a:prstGeom>
          <a:solidFill>
            <a:srgbClr val="DDEAF3"/>
          </a:solidFill>
          <a:ln w="12700">
            <a:solidFill>
              <a:srgbClr val="DDEA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5239512"/>
            <a:ext cx="10881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unpack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479792" y="5212080"/>
            <a:ext cx="2121408" cy="329184"/>
          </a:xfrm>
          <a:prstGeom prst="roundRect">
            <a:avLst>
              <a:gd name="adj" fmla="val 13889"/>
            </a:avLst>
          </a:prstGeom>
          <a:solidFill>
            <a:srgbClr val="DDEDE9"/>
          </a:solidFill>
          <a:ln w="12700">
            <a:solidFill>
              <a:srgbClr val="DDED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52944" y="5239512"/>
            <a:ext cx="1975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8C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future CUDA-aware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8255">
            <a:solidFill>
              <a:srgbClr val="CCD3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519672"/>
            <a:ext cx="11018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Correctness topology coverage is broader than physical-GPU performance coverage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APPENDIX F · VALIDATION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验证不是“程序跑完”，而是六层证据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2926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68096" y="1124712"/>
            <a:ext cx="658368" cy="329184"/>
          </a:xfrm>
          <a:prstGeom prst="roundRect">
            <a:avLst>
              <a:gd name="adj" fmla="val 13889"/>
            </a:avLst>
          </a:prstGeom>
          <a:solidFill>
            <a:srgbClr val="DDEAF3"/>
          </a:solidFill>
          <a:ln w="12700">
            <a:solidFill>
              <a:srgbClr val="DDEA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152144"/>
            <a:ext cx="512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82496" y="105156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F6F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编译与 smoke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63440" y="1051560"/>
            <a:ext cx="635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程序可启动、无 NaN/崩溃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8096" y="1911096"/>
            <a:ext cx="658368" cy="329184"/>
          </a:xfrm>
          <a:prstGeom prst="roundRect">
            <a:avLst>
              <a:gd name="adj" fmla="val 13889"/>
            </a:avLst>
          </a:prstGeom>
          <a:solidFill>
            <a:srgbClr val="F5E1E1"/>
          </a:solidFill>
          <a:ln w="12700">
            <a:solidFill>
              <a:srgbClr val="F5E1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938528"/>
            <a:ext cx="512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82496" y="1837944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CPU/GPU 同相位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1837944"/>
            <a:ext cx="635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逐场与统计量差异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8096" y="2697480"/>
            <a:ext cx="658368" cy="329184"/>
          </a:xfrm>
          <a:prstGeom prst="roundRect">
            <a:avLst>
              <a:gd name="adj" fmla="val 13889"/>
            </a:avLst>
          </a:prstGeom>
          <a:solidFill>
            <a:srgbClr val="DDEDE9"/>
          </a:solidFill>
          <a:ln w="12700">
            <a:solidFill>
              <a:srgbClr val="DDED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724912"/>
            <a:ext cx="512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8C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82496" y="2624328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A8C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边界与几何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63440" y="2624328"/>
            <a:ext cx="635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壁面不变量、Jacobian、法向投影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68096" y="3483864"/>
            <a:ext cx="658368" cy="329184"/>
          </a:xfrm>
          <a:prstGeom prst="roundRect">
            <a:avLst>
              <a:gd name="adj" fmla="val 13889"/>
            </a:avLst>
          </a:prstGeom>
          <a:solidFill>
            <a:srgbClr val="F4EBD9"/>
          </a:solidFill>
          <a:ln w="12700">
            <a:solidFill>
              <a:srgbClr val="F4EB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511296"/>
            <a:ext cx="512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783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682496" y="341071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7832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物理诊断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663440" y="3410712"/>
            <a:ext cx="635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精确解、Blasius、网格/时间趋势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68096" y="4270248"/>
            <a:ext cx="658368" cy="329184"/>
          </a:xfrm>
          <a:prstGeom prst="roundRect">
            <a:avLst>
              <a:gd name="adj" fmla="val 13889"/>
            </a:avLst>
          </a:prstGeom>
          <a:solidFill>
            <a:srgbClr val="F5E1E1"/>
          </a:solidFill>
          <a:ln w="12700">
            <a:solidFill>
              <a:srgbClr val="F5E1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4297680"/>
            <a:ext cx="512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682496" y="4197096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内存正确性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663440" y="4197096"/>
            <a:ext cx="635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Compute Sanitizer 0 error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68096" y="5056632"/>
            <a:ext cx="658368" cy="329184"/>
          </a:xfrm>
          <a:prstGeom prst="roundRect">
            <a:avLst>
              <a:gd name="adj" fmla="val 13889"/>
            </a:avLst>
          </a:prstGeom>
          <a:solidFill>
            <a:srgbClr val="DDEAF3"/>
          </a:solidFill>
          <a:ln w="12700">
            <a:solidFill>
              <a:srgbClr val="DDEA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5084064"/>
            <a:ext cx="512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682496" y="498348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F6F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性能与驻留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663440" y="4983480"/>
            <a:ext cx="635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重复计时、nvitop、Nsight transfers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68680" y="5879592"/>
            <a:ext cx="10442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顺序不能倒置：正确性未通过时，不讨论加速比。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8255">
            <a:solidFill>
              <a:srgbClr val="CCD3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519672"/>
            <a:ext cx="11018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Validation philosophy encoded in tests/gpu_validation and GPU_VALIDATION_MATRIX.md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APPENDIX G · BENCHMARK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性能数字对应两组明确的测试协议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4747"/>
          </a:solidFill>
          <a:ln w="12700">
            <a:solidFill>
              <a:srgbClr val="C847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2926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5212080" cy="3273552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34440"/>
            <a:ext cx="73152" cy="3273552"/>
          </a:xfrm>
          <a:prstGeom prst="rect">
            <a:avLst/>
          </a:prstGeom>
          <a:solidFill>
            <a:srgbClr val="C84747"/>
          </a:solidFill>
          <a:ln w="12700">
            <a:solidFill>
              <a:srgbClr val="C847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325880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Channel：CPU/GPU 整体加速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1645920"/>
            <a:ext cx="4901184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128³ · MAXSTEP=100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固定驱动力 1e-4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六阶显式中心 + diffusion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CPU NP=1：526.677 s（1 次）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GPU NP=1：13.641 / 13.917 / 14.552 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中位加速：37.84×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6208" y="1234440"/>
            <a:ext cx="5212080" cy="3273552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36208" y="1234440"/>
            <a:ext cx="73152" cy="3273552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325880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8C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C10：最新双 GPU 扩展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37376" y="1645920"/>
            <a:ext cx="4901184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256³ · 实际 6 个 RK advances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曲线网格 + Ducros + Roe MP7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六阶 diffusion + Sutherland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GPU NP=1：57.297 / 57.517 / 57.712 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GPU NP=2：36.320 / 36.487 / 36.548 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双卡加速：1.576×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5010912"/>
            <a:ext cx="10469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两组数据回答不同问题，不能把 1.58× 当成相对 CPU 的加速。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68680" y="5596128"/>
            <a:ext cx="10469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共同硬件：2× RTX 4000 Ada 19 GB；壁钟时间包含初始化与输出。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8255">
            <a:solidFill>
              <a:srgbClr val="CCD3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519672"/>
            <a:ext cx="11018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Raw timing files retained under tests/gpu_validation/out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APPENDIX H · PROFILING AND AUDIT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Profiler 用于定位瓶颈，CPU 问题必须先人工决策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2926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5193792" cy="2057400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88720"/>
            <a:ext cx="73152" cy="2057400"/>
          </a:xfrm>
          <a:prstGeom prst="rect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280160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6F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最新 C15 驻留证据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1600200"/>
            <a:ext cx="48828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221 个 kernel 后续区间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H2D：2 × 176 B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D2H：2 × 48 B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≥64 KiB：0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第二级归约 kernel：约 77.6 μs/次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6208" y="1188720"/>
            <a:ext cx="5193792" cy="2057400"/>
          </a:xfrm>
          <a:prstGeom prst="rect">
            <a:avLst/>
          </a:prstGeom>
          <a:solidFill>
            <a:srgbClr val="FFFFFF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36208" y="1188720"/>
            <a:ext cx="73152" cy="2057400"/>
          </a:xfrm>
          <a:prstGeom prst="rect">
            <a:avLst/>
          </a:prstGeom>
          <a:solidFill>
            <a:srgbClr val="C84747"/>
          </a:solidFill>
          <a:ln w="12700">
            <a:solidFill>
              <a:srgbClr val="C847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280160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已按流程修复的 CPU 确定性问题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37376" y="1600200"/>
            <a:ext cx="48828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显式滤波物理边界闭合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三维 HBL 壁面积统计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NSCBC transverse halo 时序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Ducros 双物理侧索引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曲线 symmetry 上壁法向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3675888"/>
            <a:ext cx="5193792" cy="1371600"/>
          </a:xfrm>
          <a:prstGeom prst="rect">
            <a:avLst/>
          </a:prstGeom>
          <a:solidFill>
            <a:srgbClr val="F5E1E1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675888"/>
            <a:ext cx="73152" cy="1371600"/>
          </a:xfrm>
          <a:prstGeom prst="rect">
            <a:avLst/>
          </a:prstGeom>
          <a:solidFill>
            <a:srgbClr val="C84747"/>
          </a:solidFill>
          <a:ln w="12700">
            <a:solidFill>
              <a:srgbClr val="C847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767328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4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决策门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32688" y="4087368"/>
            <a:ext cx="4882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发现 CPU 明确 bug：停止 → 报告 → 人工确认 → 修 CPU → 同步 GPU。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36208" y="3675888"/>
            <a:ext cx="5193792" cy="1371600"/>
          </a:xfrm>
          <a:prstGeom prst="rect">
            <a:avLst/>
          </a:prstGeom>
          <a:solidFill>
            <a:srgbClr val="DDEDE9"/>
          </a:solidFill>
          <a:ln w="8890">
            <a:solidFill>
              <a:srgbClr val="CCD3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3675888"/>
            <a:ext cx="73152" cy="1371600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7376" y="3767328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8C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不扩大结论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37376" y="4087368"/>
            <a:ext cx="4882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NSCBC case-specific 选择、全域激波滤波、未验证方向均保持关闭。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8680" y="5687568"/>
            <a:ext cx="10460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 CPU oracle，但不把 CPU 历史实现当成不可质疑的真值。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566928" y="6473952"/>
            <a:ext cx="11018520" cy="0"/>
          </a:xfrm>
          <a:prstGeom prst="line">
            <a:avLst/>
          </a:prstGeom>
          <a:noFill/>
          <a:ln w="8255">
            <a:solidFill>
              <a:srgbClr val="CCD3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519672"/>
            <a:ext cx="11018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Audit trail: architecture plan, validation matrix, source fixes, Nsight report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ASTR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 GPU 移植阶段进展</dc:title>
  <dc:subject>ASTR GPU progress from the pure CPU baseline 47737cf to fa36a0d</dc:subject>
  <dc:creator>ASTR GPU Porting Project</dc:creator>
  <cp:lastModifiedBy>ASTR GPU Porting Project</cp:lastModifiedBy>
  <cp:revision>1</cp:revision>
  <dcterms:created xsi:type="dcterms:W3CDTF">2026-09-04T04:21:29Z</dcterms:created>
  <dcterms:modified xsi:type="dcterms:W3CDTF">2026-09-04T04:21:29Z</dcterms:modified>
</cp:coreProperties>
</file>